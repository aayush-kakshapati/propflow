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6B49329-F582-4743-8053-66BF3ED3463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657E08-9DDD-4EF6-AD70-FB7FE771C2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6EA653-D033-4319-89B8-D7CD2C70A7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F455AA-A1C6-4968-9B62-CCA13D7677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10E649-37A8-45FA-BF07-AE5BC38B3E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D5A66E-3814-457D-BB98-DC3194B2D3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C8BD86-B679-4231-A68F-71EBF7D33D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C4F4FD-E772-44F2-9F85-ABD4038DF7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3128AF-D0F7-4E21-AA20-91879B0663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4397FF-4563-4482-9698-B9541E7D7A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F2FEBE-DCAD-4757-932C-0D614E961C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6D87DD-CAE7-47AD-BAB4-86EFCADD93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A6D794-23AC-47EA-9315-8681A3F228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36A52F-8221-4FE5-94D1-A8B29AC964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753589-8FD9-433F-8064-BD742F1350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62CD77-DBAD-4438-ABE2-D8885C2C9D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4C6EF0-4273-4150-AC5B-D46F79AD2C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08D295-CA47-4EFC-9339-42B3C0543B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5227D2-FA26-4190-8A43-A1AA2C3C26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16F3BD-BFF9-400D-94DC-63D72920D0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92957D-31BD-4F58-83AD-DF4A786C4E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E7A19F-1FC2-4A06-B6DD-BF1D1E9C15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1245C0-174E-4DDC-A44D-789ED6D4A1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7FB732-1B06-463C-8791-D2BBB150C3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ED44D5-8412-4A9E-94D2-4FA5318B9A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0893F2-361D-4E52-93D5-1A5E485574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36AD75-41EF-40A6-8B10-7FB7C21792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16E126-3395-48CE-848E-92B8B08F62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3E70D9-C1A1-4D19-965C-0FA5385FB1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6CD302-5679-417F-A10F-A465A10C41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4A510F-0594-423E-8BE3-0D18952019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3322A9-3EBA-4541-94F7-A5EDC70884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256977-06E4-42E6-A8CE-2253D65B03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6400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PropFlow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457200" y="16002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Property Management System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457200" y="21945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BCA Project Report  |  Tribhuvan University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457200" y="292608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Submitted by: Aayush Kakshapati (6-2-20-3-2022)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Supervisor: Mr. Madan Nath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Department of Computer Application, Bhaktapur Multiple Campus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Table of Contents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777240"/>
            <a:ext cx="82292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1: Introduction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•  Introduction  •  Problem Statement  •  Objectives  •  Scope &amp; Limitations  •  Development Methodology  •  Report Organization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2: Background Study &amp; Literature Review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•  Background Study  •  Literature Review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System Analysis &amp; Design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•  Requirement Analysis  •  Feasibility Analysis  •  Data Modeling  •  Process Modeling  •  System Design  •  Algorithms Used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4: Implementation &amp; Testing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•  Tools Used  •  Module Implementation  •  Unit Testing  •  System Testing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5: Conclusions &amp; Future Recommendations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•  Lessons Learnt  •  Conclusion  •  Future Recommendations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1: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1.1  Introduction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Growth of rental properties and urban housing has increased need for efficient property management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Property owners managing multiple units deal with large amounts of information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Traditional methods (paper records, spreadsheets) lack structure, scalability, and real-time access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Digital solutions increasingly adopted to centralize and streamline property operations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PropFlow is a web-based Property Management System to assist property owners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Focuses on improving visibility, reducing manual effort, and better operational control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1: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1.2  Problem Statement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Many property owners still rely on manual or semi-digital methods despite available tools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No centralized rent tracking → inconsistent records, difficulty monitoring income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Tenant information not properly organized → hard to manage and retrieve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Maintenance requests handled informally → delays, missed issues, no tracking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No real-time visibility into unit availability → affects occupancy management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These challenges lead to inefficiencies, increased workload, and reduced control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PropFlow provides a structured and centralized system to address all these issues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1: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1.3  Objectives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457200" y="108756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457200" y="98532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Simplify and organize property management for owners handling multiple units across different locations.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457200" y="19202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457200" y="1350000"/>
            <a:ext cx="82292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Provide a centralized system for tracking property occupancy, tenant details, and rent status in real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Provide payment and maintenance tracking between tenants and property owners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Enable real-time unit availability monitoring (vacant / occupied)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Support dashboard and reporting features for better financial decision-making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1: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1.4  Scope &amp; Limitations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57200" y="105156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Scope: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57200" y="1417320"/>
            <a:ext cx="8229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Tenant registration and association with specific rental units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Rent tracking and payment status monitoring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Maintenance request submission and resolution tracking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Occupancy management vacant and occupied unit availability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Basic reporting and dashboard visualization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457200" y="31546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Limitations: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57200" y="352044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No banking / payment gateway integration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No mobile application support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No advanced analytics or AI predictions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No offline functionality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No real-time notifications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1: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1.5  Development Methodology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Follows a Hybrid Incremental Model combines structured planning with step-by-step implementation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1820880" y="1600200"/>
            <a:ext cx="5494320" cy="293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1: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1.6  Report Organization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1 — Introduction: Background, problem statement, objectives, scope, limitations, and methodology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2 — Background Study: Literature review and key concepts in property management systems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 — System Analysis &amp; Design: ER diagrams, DFDs, system architecture, and database schema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4 — Implementation &amp; Testing: Technologies used, module development, and testing approaches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5 — Conclusions: Key outcomes and recommendations for future improvements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2: Background Study &amp; Literature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2.1  Background Study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Property management involves administration of residential/commercial real estate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Covers tenant handling, rent collection, maintenance, and property occupancy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Urban housing growth means owners increasingly manage multiple units across locations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Earlier practices relied on paper records or spreadsheets — lack real-time updates and consistency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As data volume grows, manual systems become inefficient and error-prone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Modern systems digitize operations with centralized platforms for all property administration tasks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Full-stack applications using Next.js, Django, and PostgreSQL enable scalable and secure systems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PropFlow is built on these concepts for individual owners managing multiple rental units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2: Background Study &amp; Literature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2.2  Literature Review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[1] Traditional property management relies heavily on manual records → inconsistencies in data, rent tracking, and maintenance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[2] Web-based systems integrating tenant management, payment tracking, and reporting improve transparency and decision-making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[3] User-friendly interfaces with simple dashboards and clear data visualization improve usability for non-technical users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[4] Structured relational databases enhance data consistency and enable efficient querying of large datasets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[5] Modern JavaScript-based frontends and backend frameworks improve performance, maintainability, and scalability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Gap: Most existing systems are too complex or not tailored for small-to-medium property owners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PropFlow addresses this gap with a simplified yet structured system focused on essential functionalities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System Analysis &amp; Design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3.1.1  Functional Requirements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Property Management — add, update, delete properties and units; view property details and status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Tenant Management — register tenant info; assign tenants to specific units; view/manage tenant records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Rent Management — record rent payments; track payment status (paid/unpaid); maintain payment history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Maintenance Management — submit maintenance requests; track status (pending/resolved); manage records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Availability Tracking — view occupied and vacant units; update unit availability status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Dashboard &amp; Reports — display summary of properties, tenants, and payments; generate simple reports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System Analysis &amp; Design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3.1.1  Non-Functional Requirements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Usability — simple and intuitive interface for property owners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Performance — fast response time for data retrieval and updates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Security — user authentication and authorization; protection of sensitive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Scalability — ability to handle increasing number of properties and users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Reliability — accurate data storage and minimal system downtime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Maintainability — modular code structure for easy updates and improvements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System Analysis &amp; Design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3.1.2  Feasibility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Technical Feasibility — uses modern technologies (Next.js, Django, PostgreSQL); tools and resources readily available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Economic Feasibility — uses open-source technologies; minimal development cost; suitable for academic and small-scale deployment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Operational Feasibility — easy to use; designed for owners with basic technical knowledge; simplifies manual processes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Schedule Feasibility — completable within academic timeframe using incremental development; each module implemented step-by-step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System Analysis &amp; Design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3.1.3  Data Modeling — Class Diagram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1062720" y="1138320"/>
            <a:ext cx="6709680" cy="3753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System Analysis &amp; Design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3.1.4  Process Modeling — Sequence Diagram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1371600" y="1051560"/>
            <a:ext cx="5480280" cy="386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System Analysis &amp; Design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3.2.1  Architectural Design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416160" y="1348560"/>
            <a:ext cx="8305560" cy="243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System Analysis &amp; Design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3.2.3  Database Schema Design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2282400" y="1029960"/>
            <a:ext cx="3661200" cy="411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Algorithms Used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3.4  Algorithm 1: Late Fee Calculation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Purpose: Determine penalty fees for rent payments submitted after the due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Input: rent_amount, due_date, payment_date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1: If payment_date is null, use today's 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2: Compare payment_date with due_date — if on time, late_fee =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3: Calculate days_overdue = payment_date − due_date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4: Apply tiered fee — ≤5 days: 5%  |  ≤15 days: 10%  |  &gt;15 days: 15%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5: late_fee = rent_amount × fee_percentage  |  Round to 2 decimal places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Example: rent=1000, days_overdue=10 → 10% → late_fee = 100.00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 Complexity: O(1) — constant time; best for high-volume payment processing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Algorithms Used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3.4  Algorithm 2: Occupancy Rate Calculation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Purpose: Determine percentage of occupied units across all properties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Input: All units from the database (optionally filtered by property)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1: Count total_units from the database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2: Filter units with status = 'occupied' and count them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3: Handle edge case — if total_units = 0, occupancy_rate = 0.0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4: occupancy_rate = (occupied_units / total_units) × 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5: Categorize — ≥80%: High  |  ≥50%: Medium  |  &lt;50%: Low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Example: 3 occupied out of 5 → 60.00% → Status: Medium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 Complexity: O(n) — linear; n = number of units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Algorithms Used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3.4  Algorithm 3: Maintenance Request Prioritization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Purpose: Assign priority levels (High/Medium/Low) to maintenance requests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Factors considered: age of request (days since creation) + current 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1: Initialize priority_score =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2: Calculate days_old = today − created_at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3: Age scoring — &gt;7 days: +3  |  &gt;3 days: +2  |  else: +1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4: Status scoring — pending: +2  |  in_progress: +1  |  else: +0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Step 5: Final priority — score ≥4: High  |  score ≥3: Medium  |  else: Low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Example: days_old=10 (+3) + status=pending (+2) = score 5 → Priority: High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Time Complexity: O(1) per request — highly scalable for large maintenance volumes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3: System Analysis &amp; Design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3.5  Algorithm Result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Late Fee Calculation — O(1) best/worst case; constant time; ideal for real-time payment processing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Occupancy Rate Calculation — O(n) best/worst case; linear due to database queries; efficient for typical datasets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Maintenance Prioritization — O(1) per request; constant time; highly scalable for large request volumes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All three algorithms are deterministic, easy to implement, and provide clear business value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Late Fee: fastest — suitable for high-volume processing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Occupancy Rate: only O(n) algorithm — still efficient for typical property management datasets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Maintenance Prioritization: most operationally valuable — enables efficient workflow management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4: Implementation &amp; Testing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4.1.1  Tools Used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Frontend — Next.js (routing, SSR, API handling); Tailwind CSS (responsive UI); JavaScript/React (state management)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Backend — Python (core logic, authentication, data processing); Django Framework (models, views, REST APIs)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Backend Libraries — re, random, json, datetime, timezone, Django ORM (Q, Sum, Avg, Count), messages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Database — PostgreSQL (stores users, properties, tenants, leases, payments, maintenance records)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Design — Draw.io (DFDs, ER diagrams, system architecture diagrams)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4: Implementation &amp; Testing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4.1.2  Module: Login / Signup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/>
          <p:cNvPicPr/>
          <p:nvPr/>
        </p:nvPicPr>
        <p:blipFill>
          <a:blip r:embed="rId1"/>
          <a:stretch/>
        </p:blipFill>
        <p:spPr>
          <a:xfrm>
            <a:off x="682920" y="1143000"/>
            <a:ext cx="7775280" cy="373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4: Implementation &amp; Testing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4.1.2  Module: Property Management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/>
          <p:cNvPicPr/>
          <p:nvPr/>
        </p:nvPicPr>
        <p:blipFill>
          <a:blip r:embed="rId1"/>
          <a:stretch/>
        </p:blipFill>
        <p:spPr>
          <a:xfrm>
            <a:off x="1497240" y="1519920"/>
            <a:ext cx="6143400" cy="209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4: Implementation &amp; Testing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4.1.2  Module: Payment Management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"/>
          <p:cNvPicPr/>
          <p:nvPr/>
        </p:nvPicPr>
        <p:blipFill>
          <a:blip r:embed="rId1"/>
          <a:stretch/>
        </p:blipFill>
        <p:spPr>
          <a:xfrm>
            <a:off x="454320" y="1051560"/>
            <a:ext cx="7089480" cy="342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4: Implementation &amp; Testing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4.1.2  Module: Maintenance Management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/>
          <p:cNvPicPr/>
          <p:nvPr/>
        </p:nvPicPr>
        <p:blipFill>
          <a:blip r:embed="rId1"/>
          <a:stretch/>
        </p:blipFill>
        <p:spPr>
          <a:xfrm>
            <a:off x="460440" y="1051560"/>
            <a:ext cx="8226360" cy="397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4: Implementation &amp; Testing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4.2.1  Unit Testing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Login Test 1 — correct email and password → Login successful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Login Test 2 — incorrect password → Login unsuccessful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Login Test 3 — any field left empty → Login unsuccessful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Sign Up Test 1 — all details provided correctly → Registration successful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Sign Up Test 2 — any field left empty → Registration unsuccessful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Create Property Test 1 — all details provided → Property added successfully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Create Property Test 2 — one field empty → Unsuccessful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Lease Test — prevent more lease assignments than unit capacity → Unsuccessful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4: Implementation &amp; Testing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4.2.2  System Testing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Application Launch — open app → System Login Page opens → Pass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Login Functionality — correct credentials → Login successful → Pass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Add Property — click add property, enter details → Property added successfully → Pass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Add Lease — select tenant and add lease → Lease created successfully → Pass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Add Maintenance Ticket — create ticket → Maintenance ticket created successfully → Pass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Update Payment Status — change status to paid → Status changes from pending to paid → Pass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Logout — click logout → System Login Page opens → Pass 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5: Conclusions &amp; Future Recommendations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5.1  Lessons Learnt / Outcome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Gained strong practical knowledge of full-stack web development using Django, Python, Next.js, and PostgreSQL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Learned to design, implement, and integrate multiple modules into a complete system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Understood importance of database management, session management, and role-based authentication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Improved problem-solving skills handling real-world issues: duplicate rent records, tenant data consistency, maintenance tracking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Enhanced understanding of modular system development using the Hybrid Incremental 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Gained experience developing a real-world property management solution for multiple rental unit owners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5: Conclusions &amp; Future Recommendations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5.2  Conclusion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PropFlow was successfully designed and implemented as a web-based Property Management System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Digitalizes and simplifies: property listing, tenant management, rent tracking, maintenance handling, occupancy tracking, reporting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Provides a user-friendly, centralized platform for managing multiple properties from a single system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Reduces manual workload, minimizes record-keeping errors, improves data organization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Supports real-time tracking of tenant info, payment status, maintenance requests, and unit availability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Achieved the primary objective of creating a structured, reliable, and efficient web-based solution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457200" y="13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Chapter 5: Conclusions &amp; Future Recommendations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457200" y="4388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5.3  Future Recommendations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457200" y="105156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Mobile Application — develop iOS/Android app for property owners and tenants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Notifications — integrate inApp, SMS/email alerts for rent due dates, payment confirmations, maintenance updates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Online Payment Gateway — support secure and automated digital rent payments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Advanced Analytics &amp; AI — predict occupancy trends, rent collection patterns, and property performance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Additional Modules — lease agreement management, visitor management, document management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Cloud Backup &amp; Enhanced Security — improve reliability, scalability, and data protection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57200" y="164592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57200" y="283464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PropFlow  ·  Property Management System  ·  BCA Project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457200" y="3383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Aayush Kakshapati  |  Supervisor: Mr. Madan Nath  |  Bhaktapur Multiple Campus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LibreOffice/26.2.2.2$Linux_X86_64 LibreOffice_project/1f77d10d6938fd34972958f64b2bcfa54f8b1ba5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2026-05-28T04:16:18Z</dcterms:created>
  <dc:creator>PptxGenJS</dc:creator>
  <dc:description/>
  <dc:language>en-US</dc:language>
  <cp:lastModifiedBy/>
  <dcterms:modified xsi:type="dcterms:W3CDTF">2026-05-28T11:12:09Z</dcterms:modified>
  <cp:revision>3</cp:revision>
  <dc:subject>PptxGenJS Presentation</dc:subject>
  <dc:title>PropFlow - Property Management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35</vt:r8>
  </property>
  <property fmtid="{D5CDD505-2E9C-101B-9397-08002B2CF9AE}" pid="3" name="PresentationFormat">
    <vt:lpwstr>On-screen Show (16:9)</vt:lpwstr>
  </property>
  <property fmtid="{D5CDD505-2E9C-101B-9397-08002B2CF9AE}" pid="4" name="Slides">
    <vt:r8>35</vt:r8>
  </property>
</Properties>
</file>